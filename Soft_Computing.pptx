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x="18288000" cy="10287000"/>
  <p:notesSz cx="6858000" cy="9144000"/>
  <p:embeddedFontLst>
    <p:embeddedFont>
      <p:font typeface="Times New Roman Bold" charset="1" panose="02020803070505020304"/>
      <p:regular r:id="rId18"/>
    </p:embeddedFont>
    <p:embeddedFont>
      <p:font typeface="Times New Roman" charset="1" panose="02020603050405020304"/>
      <p:regular r:id="rId1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5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6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7.png" Type="http://schemas.openxmlformats.org/officeDocument/2006/relationships/image"/><Relationship Id="rId5" Target="../media/image8.png" Type="http://schemas.openxmlformats.org/officeDocument/2006/relationships/image"/><Relationship Id="rId6" Target="../media/image9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0.png" Type="http://schemas.openxmlformats.org/officeDocument/2006/relationships/image"/><Relationship Id="rId5" Target="../media/image11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2.png" Type="http://schemas.openxmlformats.org/officeDocument/2006/relationships/image"/><Relationship Id="rId3" Target="../media/image13.svg" Type="http://schemas.openxmlformats.org/officeDocument/2006/relationships/image"/><Relationship Id="rId4" Target="../media/image14.png" Type="http://schemas.openxmlformats.org/officeDocument/2006/relationships/image"/><Relationship Id="rId5" Target="../media/image15.svg" Type="http://schemas.openxmlformats.org/officeDocument/2006/relationships/image"/><Relationship Id="rId6" Target="../media/image16.png" Type="http://schemas.openxmlformats.org/officeDocument/2006/relationships/image"/><Relationship Id="rId7" Target="../media/image17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8.png" Type="http://schemas.openxmlformats.org/officeDocument/2006/relationships/image"/><Relationship Id="rId5" Target="../media/image19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2.png" Type="http://schemas.openxmlformats.org/officeDocument/2006/relationships/image"/><Relationship Id="rId3" Target="../media/image13.svg" Type="http://schemas.openxmlformats.org/officeDocument/2006/relationships/image"/><Relationship Id="rId4" Target="../media/image14.png" Type="http://schemas.openxmlformats.org/officeDocument/2006/relationships/image"/><Relationship Id="rId5" Target="../media/image15.svg" Type="http://schemas.openxmlformats.org/officeDocument/2006/relationships/image"/><Relationship Id="rId6" Target="../media/image20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2.png" Type="http://schemas.openxmlformats.org/officeDocument/2006/relationships/image"/><Relationship Id="rId3" Target="../media/image13.svg" Type="http://schemas.openxmlformats.org/officeDocument/2006/relationships/image"/><Relationship Id="rId4" Target="../media/image14.png" Type="http://schemas.openxmlformats.org/officeDocument/2006/relationships/image"/><Relationship Id="rId5" Target="../media/image15.svg" Type="http://schemas.openxmlformats.org/officeDocument/2006/relationships/image"/><Relationship Id="rId6" Target="../media/image21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4.png" Type="http://schemas.openxmlformats.org/officeDocument/2006/relationships/image"/><Relationship Id="rId3" Target="../media/image15.sv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4.png" Type="http://schemas.openxmlformats.org/officeDocument/2006/relationships/image"/><Relationship Id="rId3" Target="../media/image15.sv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1111642">
            <a:off x="13066159" y="-668892"/>
            <a:ext cx="10443683" cy="8487866"/>
          </a:xfrm>
          <a:custGeom>
            <a:avLst/>
            <a:gdLst/>
            <a:ahLst/>
            <a:cxnLst/>
            <a:rect r="r" b="b" t="t" l="l"/>
            <a:pathLst>
              <a:path h="8487866" w="10443683">
                <a:moveTo>
                  <a:pt x="0" y="0"/>
                </a:moveTo>
                <a:lnTo>
                  <a:pt x="10443682" y="0"/>
                </a:lnTo>
                <a:lnTo>
                  <a:pt x="10443682" y="8487866"/>
                </a:lnTo>
                <a:lnTo>
                  <a:pt x="0" y="848786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4543541" y="8733519"/>
            <a:ext cx="9727319" cy="3106962"/>
          </a:xfrm>
          <a:custGeom>
            <a:avLst/>
            <a:gdLst/>
            <a:ahLst/>
            <a:cxnLst/>
            <a:rect r="r" b="b" t="t" l="l"/>
            <a:pathLst>
              <a:path h="3106962" w="9727319">
                <a:moveTo>
                  <a:pt x="0" y="0"/>
                </a:moveTo>
                <a:lnTo>
                  <a:pt x="9727319" y="0"/>
                </a:lnTo>
                <a:lnTo>
                  <a:pt x="9727319" y="3106962"/>
                </a:lnTo>
                <a:lnTo>
                  <a:pt x="0" y="310696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637348" y="780140"/>
            <a:ext cx="11714763" cy="43138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681"/>
              </a:lnSpc>
            </a:pPr>
            <a:r>
              <a:rPr lang="en-US" sz="6748" b="true">
                <a:solidFill>
                  <a:srgbClr val="004AAD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VISUAL TRANSFORMERS: TOKEN-BASED IMAGE REPRESENTATION AND PROCESSING FOR</a:t>
            </a:r>
          </a:p>
          <a:p>
            <a:pPr algn="l">
              <a:lnSpc>
                <a:spcPts val="6681"/>
              </a:lnSpc>
            </a:pPr>
            <a:r>
              <a:rPr lang="en-US" sz="6748" b="true">
                <a:solidFill>
                  <a:srgbClr val="004AAD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COMPUTER VISION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873789" y="5485878"/>
            <a:ext cx="11241881" cy="2184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004AA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Bichen Wu1, Chenfeng Xu3, Xiaoliang Dai1, Alvin Wan3, Peizhao Zhang1</a:t>
            </a:r>
          </a:p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004AA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Zhicheng Yan2, Masayoshi, Tomizuka3, Joseph Gonzalez3, Kurt Keutzer3, Peter Vajda1</a:t>
            </a:r>
          </a:p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004AA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 Facebook Reality Labs, 2 Facebook AI, 3 UC Berkeley</a:t>
            </a:r>
          </a:p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004AA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fwbc, xiaoliangdai, stzpz, zyan3, vajdapg@fb.com</a:t>
            </a:r>
          </a:p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004AA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fxuchenfeng, alvinwan, tomizuka, jegonzal, keutzerg@berkeley.edu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1625759">
            <a:off x="12511616" y="-4788252"/>
            <a:ext cx="9495369" cy="7717145"/>
          </a:xfrm>
          <a:custGeom>
            <a:avLst/>
            <a:gdLst/>
            <a:ahLst/>
            <a:cxnLst/>
            <a:rect r="r" b="b" t="t" l="l"/>
            <a:pathLst>
              <a:path h="7717145" w="9495369">
                <a:moveTo>
                  <a:pt x="0" y="0"/>
                </a:moveTo>
                <a:lnTo>
                  <a:pt x="9495368" y="0"/>
                </a:lnTo>
                <a:lnTo>
                  <a:pt x="9495368" y="7717145"/>
                </a:lnTo>
                <a:lnTo>
                  <a:pt x="0" y="771714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9825235" y="5982300"/>
            <a:ext cx="7902538" cy="3938098"/>
          </a:xfrm>
          <a:custGeom>
            <a:avLst/>
            <a:gdLst/>
            <a:ahLst/>
            <a:cxnLst/>
            <a:rect r="r" b="b" t="t" l="l"/>
            <a:pathLst>
              <a:path h="3938098" w="7902538">
                <a:moveTo>
                  <a:pt x="0" y="0"/>
                </a:moveTo>
                <a:lnTo>
                  <a:pt x="7902538" y="0"/>
                </a:lnTo>
                <a:lnTo>
                  <a:pt x="7902538" y="3938098"/>
                </a:lnTo>
                <a:lnTo>
                  <a:pt x="0" y="393809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95829" y="452110"/>
            <a:ext cx="12027640" cy="18542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000"/>
              </a:lnSpc>
            </a:pPr>
            <a:r>
              <a:rPr lang="en-US" sz="7000" b="true">
                <a:solidFill>
                  <a:srgbClr val="004AAD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WHY WE NEED A NEW METHOD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95829" y="2490425"/>
            <a:ext cx="12615748" cy="47671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54"/>
              </a:lnSpc>
            </a:pPr>
          </a:p>
          <a:p>
            <a:pPr algn="l">
              <a:lnSpc>
                <a:spcPts val="4714"/>
              </a:lnSpc>
            </a:pPr>
            <a:r>
              <a:rPr lang="en-US" sz="2946" b="true">
                <a:solidFill>
                  <a:srgbClr val="2E2E2E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Traditional Convolutional Neural Networks (CNNs) have problems:</a:t>
            </a:r>
          </a:p>
          <a:p>
            <a:pPr algn="l" marL="614570" indent="-307285" lvl="1">
              <a:lnSpc>
                <a:spcPts val="4554"/>
              </a:lnSpc>
              <a:buAutoNum type="arabicPeriod" startAt="1"/>
            </a:pPr>
            <a:r>
              <a:rPr lang="en-US" sz="2846">
                <a:solidFill>
                  <a:srgbClr val="2E2E2E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Treat all pixels equally (foreground &amp; background same importance)</a:t>
            </a:r>
          </a:p>
          <a:p>
            <a:pPr algn="l" marL="614570" indent="-307285" lvl="1">
              <a:lnSpc>
                <a:spcPts val="4554"/>
              </a:lnSpc>
              <a:buAutoNum type="arabicPeriod" startAt="1"/>
            </a:pPr>
            <a:r>
              <a:rPr lang="en-US" sz="2846">
                <a:solidFill>
                  <a:srgbClr val="2E2E2E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Apply all filters to all images → waste when features don’t exist</a:t>
            </a:r>
          </a:p>
          <a:p>
            <a:pPr algn="l" marL="614570" indent="-307285" lvl="1">
              <a:lnSpc>
                <a:spcPts val="4554"/>
              </a:lnSpc>
              <a:buAutoNum type="arabicPeriod" startAt="1"/>
            </a:pPr>
            <a:r>
              <a:rPr lang="en-US" sz="2846">
                <a:solidFill>
                  <a:srgbClr val="2E2E2E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Cannot capture long-distance relationships easily</a:t>
            </a:r>
          </a:p>
          <a:p>
            <a:pPr algn="l">
              <a:lnSpc>
                <a:spcPts val="4554"/>
              </a:lnSpc>
            </a:pPr>
            <a:r>
              <a:rPr lang="en-US" sz="2846">
                <a:solidFill>
                  <a:srgbClr val="2E2E2E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This is shown in the intro text on page 1 where the authors list three challenges</a:t>
            </a:r>
          </a:p>
          <a:p>
            <a:pPr algn="l">
              <a:lnSpc>
                <a:spcPts val="3754"/>
              </a:lnSpc>
            </a:pPr>
          </a:p>
          <a:p>
            <a:pPr algn="l">
              <a:lnSpc>
                <a:spcPts val="3754"/>
              </a:lnSpc>
            </a:pPr>
          </a:p>
          <a:p>
            <a:pPr algn="l">
              <a:lnSpc>
                <a:spcPts val="3754"/>
              </a:lnSpc>
            </a:pP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1625759">
            <a:off x="12511616" y="-4788252"/>
            <a:ext cx="9495369" cy="7717145"/>
          </a:xfrm>
          <a:custGeom>
            <a:avLst/>
            <a:gdLst/>
            <a:ahLst/>
            <a:cxnLst/>
            <a:rect r="r" b="b" t="t" l="l"/>
            <a:pathLst>
              <a:path h="7717145" w="9495369">
                <a:moveTo>
                  <a:pt x="0" y="0"/>
                </a:moveTo>
                <a:lnTo>
                  <a:pt x="9495368" y="0"/>
                </a:lnTo>
                <a:lnTo>
                  <a:pt x="9495368" y="7717145"/>
                </a:lnTo>
                <a:lnTo>
                  <a:pt x="0" y="771714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510969" y="2317264"/>
            <a:ext cx="12615748" cy="48966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94"/>
              </a:lnSpc>
            </a:pPr>
            <a:r>
              <a:rPr lang="en-US" sz="3246" b="true">
                <a:solidFill>
                  <a:srgbClr val="2E2E2E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VTs solve these problems by:</a:t>
            </a:r>
          </a:p>
          <a:p>
            <a:pPr algn="l" marL="700928" indent="-350464" lvl="1">
              <a:lnSpc>
                <a:spcPts val="5194"/>
              </a:lnSpc>
              <a:buFont typeface="Arial"/>
              <a:buChar char="•"/>
            </a:pPr>
            <a:r>
              <a:rPr lang="en-US" sz="3246">
                <a:solidFill>
                  <a:srgbClr val="2E2E2E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Converting feature maps → visual tokens (meaningful groups like ‘person’, ‘sky’, ‘tree’)</a:t>
            </a:r>
          </a:p>
          <a:p>
            <a:pPr algn="l" marL="700928" indent="-350464" lvl="1">
              <a:lnSpc>
                <a:spcPts val="5194"/>
              </a:lnSpc>
              <a:buFont typeface="Arial"/>
              <a:buChar char="•"/>
            </a:pPr>
            <a:r>
              <a:rPr lang="en-US" sz="3246">
                <a:solidFill>
                  <a:srgbClr val="2E2E2E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Using transformers to relate these tokens (like words in a sentence)</a:t>
            </a:r>
          </a:p>
          <a:p>
            <a:pPr algn="l" marL="700928" indent="-350464" lvl="1">
              <a:lnSpc>
                <a:spcPts val="5194"/>
              </a:lnSpc>
              <a:buFont typeface="Arial"/>
              <a:buChar char="•"/>
            </a:pPr>
            <a:r>
              <a:rPr lang="en-US" sz="3246">
                <a:solidFill>
                  <a:srgbClr val="2E2E2E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Projecting tokens back to pixel space for segmentation</a:t>
            </a:r>
          </a:p>
          <a:p>
            <a:pPr algn="l">
              <a:lnSpc>
                <a:spcPts val="5194"/>
              </a:lnSpc>
            </a:pPr>
            <a:r>
              <a:rPr lang="en-US" sz="3246">
                <a:solidFill>
                  <a:srgbClr val="2E2E2E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diagram on page 2 (Figure 1) clearly shows this flow:</a:t>
            </a:r>
          </a:p>
          <a:p>
            <a:pPr algn="l">
              <a:lnSpc>
                <a:spcPts val="3754"/>
              </a:lnSpc>
            </a:pPr>
          </a:p>
          <a:p>
            <a:pPr algn="l">
              <a:lnSpc>
                <a:spcPts val="3754"/>
              </a:lnSpc>
            </a:pP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4303732" y="6262314"/>
            <a:ext cx="11301259" cy="3687036"/>
          </a:xfrm>
          <a:custGeom>
            <a:avLst/>
            <a:gdLst/>
            <a:ahLst/>
            <a:cxnLst/>
            <a:rect r="r" b="b" t="t" l="l"/>
            <a:pathLst>
              <a:path h="3687036" w="11301259">
                <a:moveTo>
                  <a:pt x="0" y="0"/>
                </a:moveTo>
                <a:lnTo>
                  <a:pt x="11301259" y="0"/>
                </a:lnTo>
                <a:lnTo>
                  <a:pt x="11301259" y="3687035"/>
                </a:lnTo>
                <a:lnTo>
                  <a:pt x="0" y="368703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95829" y="452110"/>
            <a:ext cx="12027640" cy="18542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000"/>
              </a:lnSpc>
            </a:pPr>
            <a:r>
              <a:rPr lang="en-US" sz="7000" b="true">
                <a:solidFill>
                  <a:srgbClr val="004AAD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WHAT ARE VISUAL TRANSFORMERS?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1625759">
            <a:off x="16432413" y="-3926187"/>
            <a:ext cx="10884489" cy="8846121"/>
          </a:xfrm>
          <a:custGeom>
            <a:avLst/>
            <a:gdLst/>
            <a:ahLst/>
            <a:cxnLst/>
            <a:rect r="r" b="b" t="t" l="l"/>
            <a:pathLst>
              <a:path h="8846121" w="10884489">
                <a:moveTo>
                  <a:pt x="0" y="0"/>
                </a:moveTo>
                <a:lnTo>
                  <a:pt x="10884489" y="0"/>
                </a:lnTo>
                <a:lnTo>
                  <a:pt x="10884489" y="8846121"/>
                </a:lnTo>
                <a:lnTo>
                  <a:pt x="0" y="884612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8208007" y="1812025"/>
            <a:ext cx="8679672" cy="3956041"/>
          </a:xfrm>
          <a:custGeom>
            <a:avLst/>
            <a:gdLst/>
            <a:ahLst/>
            <a:cxnLst/>
            <a:rect r="r" b="b" t="t" l="l"/>
            <a:pathLst>
              <a:path h="3956041" w="8679672">
                <a:moveTo>
                  <a:pt x="0" y="0"/>
                </a:moveTo>
                <a:lnTo>
                  <a:pt x="8679673" y="0"/>
                </a:lnTo>
                <a:lnTo>
                  <a:pt x="8679673" y="3956041"/>
                </a:lnTo>
                <a:lnTo>
                  <a:pt x="0" y="395604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646029" y="5715000"/>
            <a:ext cx="10288264" cy="1615018"/>
          </a:xfrm>
          <a:custGeom>
            <a:avLst/>
            <a:gdLst/>
            <a:ahLst/>
            <a:cxnLst/>
            <a:rect r="r" b="b" t="t" l="l"/>
            <a:pathLst>
              <a:path h="1615018" w="10288264">
                <a:moveTo>
                  <a:pt x="0" y="0"/>
                </a:moveTo>
                <a:lnTo>
                  <a:pt x="10288264" y="0"/>
                </a:lnTo>
                <a:lnTo>
                  <a:pt x="10288264" y="1615018"/>
                </a:lnTo>
                <a:lnTo>
                  <a:pt x="0" y="161501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8860023" y="7330018"/>
            <a:ext cx="7375640" cy="2344973"/>
          </a:xfrm>
          <a:custGeom>
            <a:avLst/>
            <a:gdLst/>
            <a:ahLst/>
            <a:cxnLst/>
            <a:rect r="r" b="b" t="t" l="l"/>
            <a:pathLst>
              <a:path h="2344973" w="7375640">
                <a:moveTo>
                  <a:pt x="0" y="0"/>
                </a:moveTo>
                <a:lnTo>
                  <a:pt x="7375641" y="0"/>
                </a:lnTo>
                <a:lnTo>
                  <a:pt x="7375641" y="2344973"/>
                </a:lnTo>
                <a:lnTo>
                  <a:pt x="0" y="2344973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646029" y="592123"/>
            <a:ext cx="14040847" cy="20840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800"/>
              </a:lnSpc>
            </a:pPr>
            <a:r>
              <a:rPr lang="en-US" sz="7800" b="true">
                <a:solidFill>
                  <a:srgbClr val="004AAD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HOW TOKENIZATION WORKS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28700" y="3146425"/>
            <a:ext cx="7111777" cy="1997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99"/>
              </a:lnSpc>
            </a:pPr>
            <a:r>
              <a:rPr lang="en-US" sz="2499">
                <a:solidFill>
                  <a:srgbClr val="2E2E2E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1. </a:t>
            </a:r>
            <a:r>
              <a:rPr lang="en-US" sz="2499" b="true">
                <a:solidFill>
                  <a:srgbClr val="2E2E2E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Filter-Based Tokenizer</a:t>
            </a:r>
          </a:p>
          <a:p>
            <a:pPr algn="l" marL="539749" indent="-269875" lvl="1">
              <a:lnSpc>
                <a:spcPts val="3999"/>
              </a:lnSpc>
              <a:buFont typeface="Arial"/>
              <a:buChar char="•"/>
            </a:pPr>
            <a:r>
              <a:rPr lang="en-US" sz="2499">
                <a:solidFill>
                  <a:srgbClr val="2E2E2E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Uses convolution filters to group similar pixels</a:t>
            </a:r>
          </a:p>
          <a:p>
            <a:pPr algn="l" marL="539749" indent="-269875" lvl="1">
              <a:lnSpc>
                <a:spcPts val="3999"/>
              </a:lnSpc>
              <a:buFont typeface="Arial"/>
              <a:buChar char="•"/>
            </a:pPr>
            <a:r>
              <a:rPr lang="en-US" sz="2499">
                <a:solidFill>
                  <a:srgbClr val="2E2E2E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Creates visual tokens using attention</a:t>
            </a:r>
          </a:p>
          <a:p>
            <a:pPr algn="l">
              <a:lnSpc>
                <a:spcPts val="3999"/>
              </a:lnSpc>
            </a:pP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1625759">
            <a:off x="16432413" y="-3926187"/>
            <a:ext cx="10884489" cy="8846121"/>
          </a:xfrm>
          <a:custGeom>
            <a:avLst/>
            <a:gdLst/>
            <a:ahLst/>
            <a:cxnLst/>
            <a:rect r="r" b="b" t="t" l="l"/>
            <a:pathLst>
              <a:path h="8846121" w="10884489">
                <a:moveTo>
                  <a:pt x="0" y="0"/>
                </a:moveTo>
                <a:lnTo>
                  <a:pt x="10884489" y="0"/>
                </a:lnTo>
                <a:lnTo>
                  <a:pt x="10884489" y="8846121"/>
                </a:lnTo>
                <a:lnTo>
                  <a:pt x="0" y="884612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8916637" y="3031288"/>
            <a:ext cx="8196144" cy="3575855"/>
          </a:xfrm>
          <a:custGeom>
            <a:avLst/>
            <a:gdLst/>
            <a:ahLst/>
            <a:cxnLst/>
            <a:rect r="r" b="b" t="t" l="l"/>
            <a:pathLst>
              <a:path h="3575855" w="8196144">
                <a:moveTo>
                  <a:pt x="0" y="0"/>
                </a:moveTo>
                <a:lnTo>
                  <a:pt x="8196143" y="0"/>
                </a:lnTo>
                <a:lnTo>
                  <a:pt x="8196143" y="3575855"/>
                </a:lnTo>
                <a:lnTo>
                  <a:pt x="0" y="357585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345872" y="6107552"/>
            <a:ext cx="9565998" cy="1611550"/>
          </a:xfrm>
          <a:custGeom>
            <a:avLst/>
            <a:gdLst/>
            <a:ahLst/>
            <a:cxnLst/>
            <a:rect r="r" b="b" t="t" l="l"/>
            <a:pathLst>
              <a:path h="1611550" w="9565998">
                <a:moveTo>
                  <a:pt x="0" y="0"/>
                </a:moveTo>
                <a:lnTo>
                  <a:pt x="9565998" y="0"/>
                </a:lnTo>
                <a:lnTo>
                  <a:pt x="9565998" y="1611551"/>
                </a:lnTo>
                <a:lnTo>
                  <a:pt x="0" y="161155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646029" y="592123"/>
            <a:ext cx="14040847" cy="20840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800"/>
              </a:lnSpc>
            </a:pPr>
            <a:r>
              <a:rPr lang="en-US" sz="7800" b="true">
                <a:solidFill>
                  <a:srgbClr val="004AAD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HOW TOKENIZATION WORKS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28700" y="3263466"/>
            <a:ext cx="7111777" cy="3006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99"/>
              </a:lnSpc>
            </a:pPr>
            <a:r>
              <a:rPr lang="en-US" sz="2499">
                <a:solidFill>
                  <a:srgbClr val="2E2E2E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2. </a:t>
            </a:r>
            <a:r>
              <a:rPr lang="en-US" sz="2499" b="true">
                <a:solidFill>
                  <a:srgbClr val="2E2E2E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Recurrent Tokenizer</a:t>
            </a:r>
          </a:p>
          <a:p>
            <a:pPr algn="l" marL="539749" indent="-269875" lvl="1">
              <a:lnSpc>
                <a:spcPts val="3999"/>
              </a:lnSpc>
              <a:buFont typeface="Arial"/>
              <a:buChar char="•"/>
            </a:pPr>
            <a:r>
              <a:rPr lang="en-US" sz="2499">
                <a:solidFill>
                  <a:srgbClr val="2E2E2E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Uses tokens from earlier layers to improve current tokens</a:t>
            </a:r>
          </a:p>
          <a:p>
            <a:pPr algn="l" marL="539749" indent="-269875" lvl="1">
              <a:lnSpc>
                <a:spcPts val="3999"/>
              </a:lnSpc>
              <a:buFont typeface="Arial"/>
              <a:buChar char="•"/>
            </a:pPr>
            <a:r>
              <a:rPr lang="en-US" sz="2499">
                <a:solidFill>
                  <a:srgbClr val="2E2E2E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More content-aware</a:t>
            </a:r>
          </a:p>
          <a:p>
            <a:pPr algn="l">
              <a:lnSpc>
                <a:spcPts val="3999"/>
              </a:lnSpc>
            </a:pPr>
          </a:p>
          <a:p>
            <a:pPr algn="l">
              <a:lnSpc>
                <a:spcPts val="3999"/>
              </a:lnSpc>
            </a:pP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2085749">
            <a:off x="-5893228" y="-3839351"/>
            <a:ext cx="14345355" cy="14345355"/>
          </a:xfrm>
          <a:custGeom>
            <a:avLst/>
            <a:gdLst/>
            <a:ahLst/>
            <a:cxnLst/>
            <a:rect r="r" b="b" t="t" l="l"/>
            <a:pathLst>
              <a:path h="14345355" w="14345355">
                <a:moveTo>
                  <a:pt x="0" y="0"/>
                </a:moveTo>
                <a:lnTo>
                  <a:pt x="14345355" y="0"/>
                </a:lnTo>
                <a:lnTo>
                  <a:pt x="14345355" y="14345355"/>
                </a:lnTo>
                <a:lnTo>
                  <a:pt x="0" y="1434535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1799293">
            <a:off x="12170918" y="-745657"/>
            <a:ext cx="6885296" cy="11055409"/>
          </a:xfrm>
          <a:custGeom>
            <a:avLst/>
            <a:gdLst/>
            <a:ahLst/>
            <a:cxnLst/>
            <a:rect r="r" b="b" t="t" l="l"/>
            <a:pathLst>
              <a:path h="11055409" w="6885296">
                <a:moveTo>
                  <a:pt x="0" y="0"/>
                </a:moveTo>
                <a:lnTo>
                  <a:pt x="6885296" y="0"/>
                </a:lnTo>
                <a:lnTo>
                  <a:pt x="6885296" y="11055409"/>
                </a:lnTo>
                <a:lnTo>
                  <a:pt x="0" y="1105540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50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488326" y="4568107"/>
            <a:ext cx="10043999" cy="835168"/>
          </a:xfrm>
          <a:custGeom>
            <a:avLst/>
            <a:gdLst/>
            <a:ahLst/>
            <a:cxnLst/>
            <a:rect r="r" b="b" t="t" l="l"/>
            <a:pathLst>
              <a:path h="835168" w="10043999">
                <a:moveTo>
                  <a:pt x="0" y="0"/>
                </a:moveTo>
                <a:lnTo>
                  <a:pt x="10043999" y="0"/>
                </a:lnTo>
                <a:lnTo>
                  <a:pt x="10043999" y="835168"/>
                </a:lnTo>
                <a:lnTo>
                  <a:pt x="0" y="83516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408236" y="6940547"/>
            <a:ext cx="10124089" cy="1169800"/>
          </a:xfrm>
          <a:custGeom>
            <a:avLst/>
            <a:gdLst/>
            <a:ahLst/>
            <a:cxnLst/>
            <a:rect r="r" b="b" t="t" l="l"/>
            <a:pathLst>
              <a:path h="1169800" w="10124089">
                <a:moveTo>
                  <a:pt x="0" y="0"/>
                </a:moveTo>
                <a:lnTo>
                  <a:pt x="10124089" y="0"/>
                </a:lnTo>
                <a:lnTo>
                  <a:pt x="10124089" y="1169800"/>
                </a:lnTo>
                <a:lnTo>
                  <a:pt x="0" y="116980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218339" y="454025"/>
            <a:ext cx="13624532" cy="17500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612"/>
              </a:lnSpc>
            </a:pPr>
            <a:r>
              <a:rPr lang="en-US" sz="6612" b="true">
                <a:solidFill>
                  <a:srgbClr val="004AAD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TRANSFORMER MODULE AND PROJECTOR MODULE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28700" y="3619417"/>
            <a:ext cx="5663817" cy="5295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19"/>
              </a:lnSpc>
            </a:pPr>
            <a:r>
              <a:rPr lang="en-US" sz="2699" b="true">
                <a:solidFill>
                  <a:srgbClr val="2E2E2E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Tokens interact using self-attention.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795695" y="2691745"/>
            <a:ext cx="7426404" cy="6323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647"/>
              </a:lnSpc>
              <a:spcBef>
                <a:spcPct val="0"/>
              </a:spcBef>
            </a:pPr>
            <a:r>
              <a:rPr lang="en-US" b="true" sz="4647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TRANSFORMER MODULE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292781" y="5889050"/>
            <a:ext cx="6432232" cy="6323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647"/>
              </a:lnSpc>
              <a:spcBef>
                <a:spcPct val="0"/>
              </a:spcBef>
            </a:pPr>
            <a:r>
              <a:rPr lang="en-US" b="true" sz="4647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PROJECTOR</a:t>
            </a:r>
            <a:r>
              <a:rPr lang="en-US" b="true" sz="4647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MODULE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28700" y="8666456"/>
            <a:ext cx="8750737" cy="4152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b="true" sz="2399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This equation shows how visual tokens are projected back to pixels.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1625759">
            <a:off x="16432413" y="-3926187"/>
            <a:ext cx="10884489" cy="8846121"/>
          </a:xfrm>
          <a:custGeom>
            <a:avLst/>
            <a:gdLst/>
            <a:ahLst/>
            <a:cxnLst/>
            <a:rect r="r" b="b" t="t" l="l"/>
            <a:pathLst>
              <a:path h="8846121" w="10884489">
                <a:moveTo>
                  <a:pt x="0" y="0"/>
                </a:moveTo>
                <a:lnTo>
                  <a:pt x="10884489" y="0"/>
                </a:lnTo>
                <a:lnTo>
                  <a:pt x="10884489" y="8846121"/>
                </a:lnTo>
                <a:lnTo>
                  <a:pt x="0" y="884612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8904782" y="1775662"/>
            <a:ext cx="7780039" cy="3562983"/>
          </a:xfrm>
          <a:custGeom>
            <a:avLst/>
            <a:gdLst/>
            <a:ahLst/>
            <a:cxnLst/>
            <a:rect r="r" b="b" t="t" l="l"/>
            <a:pathLst>
              <a:path h="3562983" w="7780039">
                <a:moveTo>
                  <a:pt x="0" y="0"/>
                </a:moveTo>
                <a:lnTo>
                  <a:pt x="7780040" y="0"/>
                </a:lnTo>
                <a:lnTo>
                  <a:pt x="7780040" y="3562983"/>
                </a:lnTo>
                <a:lnTo>
                  <a:pt x="0" y="356298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3493371" y="6905398"/>
            <a:ext cx="11301259" cy="2655796"/>
          </a:xfrm>
          <a:custGeom>
            <a:avLst/>
            <a:gdLst/>
            <a:ahLst/>
            <a:cxnLst/>
            <a:rect r="r" b="b" t="t" l="l"/>
            <a:pathLst>
              <a:path h="2655796" w="11301259">
                <a:moveTo>
                  <a:pt x="0" y="0"/>
                </a:moveTo>
                <a:lnTo>
                  <a:pt x="11301258" y="0"/>
                </a:lnTo>
                <a:lnTo>
                  <a:pt x="11301258" y="2655796"/>
                </a:lnTo>
                <a:lnTo>
                  <a:pt x="0" y="265579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646029" y="592123"/>
            <a:ext cx="14040847" cy="20840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800"/>
              </a:lnSpc>
            </a:pPr>
            <a:r>
              <a:rPr lang="en-US" sz="7800" b="true">
                <a:solidFill>
                  <a:srgbClr val="004AAD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VISUAL TRANSFORMER IN RESNET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28700" y="3263466"/>
            <a:ext cx="7111777" cy="482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99"/>
              </a:lnSpc>
            </a:pPr>
            <a:r>
              <a:rPr lang="en-US" sz="2499">
                <a:solidFill>
                  <a:srgbClr val="2E2E2E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-US" sz="2499">
                <a:solidFill>
                  <a:srgbClr val="2E2E2E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</a:t>
            </a:r>
            <a:r>
              <a:rPr lang="en-US" sz="2499">
                <a:solidFill>
                  <a:srgbClr val="2E2E2E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499">
                <a:solidFill>
                  <a:srgbClr val="2E2E2E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</a:t>
            </a:r>
            <a:r>
              <a:rPr lang="en-US" sz="2499">
                <a:solidFill>
                  <a:srgbClr val="2E2E2E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 added by replacing the last stage of ResNet.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629326" y="5621421"/>
            <a:ext cx="16055496" cy="10934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800"/>
              </a:lnSpc>
              <a:spcBef>
                <a:spcPct val="0"/>
              </a:spcBef>
            </a:pPr>
            <a:r>
              <a:rPr lang="en-US" b="true" sz="780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VISUAL TRANSFORMER IN FPN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2085749">
            <a:off x="-5893228" y="-3839351"/>
            <a:ext cx="14345355" cy="14345355"/>
          </a:xfrm>
          <a:custGeom>
            <a:avLst/>
            <a:gdLst/>
            <a:ahLst/>
            <a:cxnLst/>
            <a:rect r="r" b="b" t="t" l="l"/>
            <a:pathLst>
              <a:path h="14345355" w="14345355">
                <a:moveTo>
                  <a:pt x="0" y="0"/>
                </a:moveTo>
                <a:lnTo>
                  <a:pt x="14345355" y="0"/>
                </a:lnTo>
                <a:lnTo>
                  <a:pt x="14345355" y="14345355"/>
                </a:lnTo>
                <a:lnTo>
                  <a:pt x="0" y="1434535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1799293">
            <a:off x="12170918" y="-745657"/>
            <a:ext cx="6885296" cy="11055409"/>
          </a:xfrm>
          <a:custGeom>
            <a:avLst/>
            <a:gdLst/>
            <a:ahLst/>
            <a:cxnLst/>
            <a:rect r="r" b="b" t="t" l="l"/>
            <a:pathLst>
              <a:path h="11055409" w="6885296">
                <a:moveTo>
                  <a:pt x="0" y="0"/>
                </a:moveTo>
                <a:lnTo>
                  <a:pt x="6885296" y="0"/>
                </a:lnTo>
                <a:lnTo>
                  <a:pt x="6885296" y="11055409"/>
                </a:lnTo>
                <a:lnTo>
                  <a:pt x="0" y="1105540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50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203309" y="1791363"/>
            <a:ext cx="5827296" cy="5668813"/>
          </a:xfrm>
          <a:custGeom>
            <a:avLst/>
            <a:gdLst/>
            <a:ahLst/>
            <a:cxnLst/>
            <a:rect r="r" b="b" t="t" l="l"/>
            <a:pathLst>
              <a:path h="5668813" w="5827296">
                <a:moveTo>
                  <a:pt x="0" y="0"/>
                </a:moveTo>
                <a:lnTo>
                  <a:pt x="5827296" y="0"/>
                </a:lnTo>
                <a:lnTo>
                  <a:pt x="5827296" y="5668813"/>
                </a:lnTo>
                <a:lnTo>
                  <a:pt x="0" y="5668813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218339" y="454025"/>
            <a:ext cx="13624532" cy="9161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612"/>
              </a:lnSpc>
            </a:pPr>
            <a:r>
              <a:rPr lang="en-US" sz="6612" b="true">
                <a:solidFill>
                  <a:srgbClr val="004AAD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SEGMENTATION RESULTS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2085749">
            <a:off x="-5716287" y="-3479190"/>
            <a:ext cx="14345355" cy="14345355"/>
          </a:xfrm>
          <a:custGeom>
            <a:avLst/>
            <a:gdLst/>
            <a:ahLst/>
            <a:cxnLst/>
            <a:rect r="r" b="b" t="t" l="l"/>
            <a:pathLst>
              <a:path h="14345355" w="14345355">
                <a:moveTo>
                  <a:pt x="0" y="0"/>
                </a:moveTo>
                <a:lnTo>
                  <a:pt x="14345355" y="0"/>
                </a:lnTo>
                <a:lnTo>
                  <a:pt x="14345355" y="14345355"/>
                </a:lnTo>
                <a:lnTo>
                  <a:pt x="0" y="1434535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1799293">
            <a:off x="12170918" y="-745657"/>
            <a:ext cx="6885296" cy="11055409"/>
          </a:xfrm>
          <a:custGeom>
            <a:avLst/>
            <a:gdLst/>
            <a:ahLst/>
            <a:cxnLst/>
            <a:rect r="r" b="b" t="t" l="l"/>
            <a:pathLst>
              <a:path h="11055409" w="6885296">
                <a:moveTo>
                  <a:pt x="0" y="0"/>
                </a:moveTo>
                <a:lnTo>
                  <a:pt x="6885296" y="0"/>
                </a:lnTo>
                <a:lnTo>
                  <a:pt x="6885296" y="11055409"/>
                </a:lnTo>
                <a:lnTo>
                  <a:pt x="0" y="1105540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50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028700" y="5107849"/>
            <a:ext cx="11301259" cy="3305618"/>
          </a:xfrm>
          <a:custGeom>
            <a:avLst/>
            <a:gdLst/>
            <a:ahLst/>
            <a:cxnLst/>
            <a:rect r="r" b="b" t="t" l="l"/>
            <a:pathLst>
              <a:path h="3305618" w="11301259">
                <a:moveTo>
                  <a:pt x="0" y="0"/>
                </a:moveTo>
                <a:lnTo>
                  <a:pt x="11301259" y="0"/>
                </a:lnTo>
                <a:lnTo>
                  <a:pt x="11301259" y="3305618"/>
                </a:lnTo>
                <a:lnTo>
                  <a:pt x="0" y="330561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218339" y="454025"/>
            <a:ext cx="13624532" cy="9161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612"/>
              </a:lnSpc>
            </a:pPr>
            <a:r>
              <a:rPr lang="en-US" sz="6612" b="true">
                <a:solidFill>
                  <a:srgbClr val="004AAD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VISUALIZATION OF ATTENTION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758580" y="1863634"/>
            <a:ext cx="7734741" cy="3244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19"/>
              </a:lnSpc>
            </a:pPr>
            <a:r>
              <a:rPr lang="en-US" sz="2699" b="true">
                <a:solidFill>
                  <a:srgbClr val="2E2E2E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The heatmaps on page 8 (Figure 5) show:</a:t>
            </a:r>
          </a:p>
          <a:p>
            <a:pPr algn="l" marL="582928" indent="-291464" lvl="1">
              <a:lnSpc>
                <a:spcPts val="4319"/>
              </a:lnSpc>
              <a:buFont typeface="Arial"/>
              <a:buChar char="•"/>
            </a:pPr>
            <a:r>
              <a:rPr lang="en-US" b="true" sz="2699">
                <a:solidFill>
                  <a:srgbClr val="2E2E2E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Tokens automatically focus on specific objects (sheep, clothes, legs, sky)</a:t>
            </a:r>
          </a:p>
          <a:p>
            <a:pPr algn="l" marL="582928" indent="-291464" lvl="1">
              <a:lnSpc>
                <a:spcPts val="4319"/>
              </a:lnSpc>
              <a:buFont typeface="Arial"/>
              <a:buChar char="•"/>
            </a:pPr>
            <a:r>
              <a:rPr lang="en-US" b="true" sz="2699">
                <a:solidFill>
                  <a:srgbClr val="2E2E2E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No supervision needed</a:t>
            </a:r>
          </a:p>
          <a:p>
            <a:pPr algn="l" marL="582928" indent="-291464" lvl="1">
              <a:lnSpc>
                <a:spcPts val="4319"/>
              </a:lnSpc>
              <a:buFont typeface="Arial"/>
              <a:buChar char="•"/>
            </a:pPr>
            <a:r>
              <a:rPr lang="en-US" b="true" sz="2699">
                <a:solidFill>
                  <a:srgbClr val="2E2E2E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Shows semantic meaning is captured by tokens</a:t>
            </a:r>
          </a:p>
          <a:p>
            <a:pPr algn="l">
              <a:lnSpc>
                <a:spcPts val="4319"/>
              </a:lnSpc>
            </a:pP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1799293">
            <a:off x="14845352" y="-3221761"/>
            <a:ext cx="6885296" cy="11055409"/>
          </a:xfrm>
          <a:custGeom>
            <a:avLst/>
            <a:gdLst/>
            <a:ahLst/>
            <a:cxnLst/>
            <a:rect r="r" b="b" t="t" l="l"/>
            <a:pathLst>
              <a:path h="11055409" w="6885296">
                <a:moveTo>
                  <a:pt x="0" y="0"/>
                </a:moveTo>
                <a:lnTo>
                  <a:pt x="6885296" y="0"/>
                </a:lnTo>
                <a:lnTo>
                  <a:pt x="6885296" y="11055409"/>
                </a:lnTo>
                <a:lnTo>
                  <a:pt x="0" y="1105540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218339" y="454025"/>
            <a:ext cx="13624532" cy="9161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612"/>
              </a:lnSpc>
            </a:pPr>
            <a:r>
              <a:rPr lang="en-US" sz="6612" b="true">
                <a:solidFill>
                  <a:srgbClr val="004AAD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WHY VT WORKS (MAIN IDEA)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186270" y="2996056"/>
            <a:ext cx="15864467" cy="34550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44783" indent="-372392" lvl="1">
              <a:lnSpc>
                <a:spcPts val="5519"/>
              </a:lnSpc>
              <a:buFont typeface="Arial"/>
              <a:buChar char="•"/>
            </a:pPr>
            <a:r>
              <a:rPr lang="en-US" b="true" sz="3449">
                <a:solidFill>
                  <a:srgbClr val="2E2E2E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Compress pixels into tokens → fewer computations</a:t>
            </a:r>
          </a:p>
          <a:p>
            <a:pPr algn="l" marL="744783" indent="-372392" lvl="1">
              <a:lnSpc>
                <a:spcPts val="5519"/>
              </a:lnSpc>
              <a:buFont typeface="Arial"/>
              <a:buChar char="•"/>
            </a:pPr>
            <a:r>
              <a:rPr lang="en-US" b="true" sz="3449">
                <a:solidFill>
                  <a:srgbClr val="2E2E2E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Only learn what is present in the image</a:t>
            </a:r>
          </a:p>
          <a:p>
            <a:pPr algn="l" marL="744783" indent="-372392" lvl="1">
              <a:lnSpc>
                <a:spcPts val="5519"/>
              </a:lnSpc>
              <a:buFont typeface="Arial"/>
              <a:buChar char="•"/>
            </a:pPr>
            <a:r>
              <a:rPr lang="en-US" b="true" sz="3449">
                <a:solidFill>
                  <a:srgbClr val="2E2E2E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Tran</a:t>
            </a:r>
            <a:r>
              <a:rPr lang="en-US" b="true" sz="3449">
                <a:solidFill>
                  <a:srgbClr val="2E2E2E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sformers capture long-range relations</a:t>
            </a:r>
          </a:p>
          <a:p>
            <a:pPr algn="l" marL="744783" indent="-372392" lvl="1">
              <a:lnSpc>
                <a:spcPts val="5519"/>
              </a:lnSpc>
              <a:buFont typeface="Arial"/>
              <a:buChar char="•"/>
            </a:pPr>
            <a:r>
              <a:rPr lang="en-US" b="true" sz="3449">
                <a:solidFill>
                  <a:srgbClr val="2E2E2E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Project tokens back for pixel-level tasks</a:t>
            </a:r>
          </a:p>
          <a:p>
            <a:pPr algn="l">
              <a:lnSpc>
                <a:spcPts val="5519"/>
              </a:lnSpc>
            </a:pP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1799293">
            <a:off x="14845352" y="-3221761"/>
            <a:ext cx="6885296" cy="11055409"/>
          </a:xfrm>
          <a:custGeom>
            <a:avLst/>
            <a:gdLst/>
            <a:ahLst/>
            <a:cxnLst/>
            <a:rect r="r" b="b" t="t" l="l"/>
            <a:pathLst>
              <a:path h="11055409" w="6885296">
                <a:moveTo>
                  <a:pt x="0" y="0"/>
                </a:moveTo>
                <a:lnTo>
                  <a:pt x="6885296" y="0"/>
                </a:lnTo>
                <a:lnTo>
                  <a:pt x="6885296" y="11055409"/>
                </a:lnTo>
                <a:lnTo>
                  <a:pt x="0" y="1105540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218339" y="454025"/>
            <a:ext cx="13624532" cy="9161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612"/>
              </a:lnSpc>
            </a:pPr>
            <a:r>
              <a:rPr lang="en-US" sz="6612" b="true">
                <a:solidFill>
                  <a:srgbClr val="004AAD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CONCLUSION 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758580" y="1780513"/>
            <a:ext cx="15864467" cy="41487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44783" indent="-372392" lvl="1">
              <a:lnSpc>
                <a:spcPts val="5519"/>
              </a:lnSpc>
              <a:buFont typeface="Arial"/>
              <a:buChar char="•"/>
            </a:pPr>
            <a:r>
              <a:rPr lang="en-US" b="true" sz="3449">
                <a:solidFill>
                  <a:srgbClr val="2E2E2E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The paper proves:</a:t>
            </a:r>
          </a:p>
          <a:p>
            <a:pPr algn="l" marL="744783" indent="-372392" lvl="1">
              <a:lnSpc>
                <a:spcPts val="5519"/>
              </a:lnSpc>
              <a:buFont typeface="Arial"/>
              <a:buChar char="•"/>
            </a:pPr>
            <a:r>
              <a:rPr lang="en-US" b="true" sz="3449">
                <a:solidFill>
                  <a:srgbClr val="2E2E2E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Visual Transformers are more efficient than convolutions</a:t>
            </a:r>
          </a:p>
          <a:p>
            <a:pPr algn="l" marL="744783" indent="-372392" lvl="1">
              <a:lnSpc>
                <a:spcPts val="5519"/>
              </a:lnSpc>
              <a:buFont typeface="Arial"/>
              <a:buChar char="•"/>
            </a:pPr>
            <a:r>
              <a:rPr lang="en-US" b="true" sz="3449">
                <a:solidFill>
                  <a:srgbClr val="2E2E2E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I</a:t>
            </a:r>
            <a:r>
              <a:rPr lang="en-US" b="true" sz="3449">
                <a:solidFill>
                  <a:srgbClr val="2E2E2E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ncrease accuracy on ImageNet by 4.6 to 7%</a:t>
            </a:r>
          </a:p>
          <a:p>
            <a:pPr algn="l" marL="744783" indent="-372392" lvl="1">
              <a:lnSpc>
                <a:spcPts val="5519"/>
              </a:lnSpc>
              <a:buFont typeface="Arial"/>
              <a:buChar char="•"/>
            </a:pPr>
            <a:r>
              <a:rPr lang="en-US" b="true" sz="3449">
                <a:solidFill>
                  <a:srgbClr val="2E2E2E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Reduce FLOPs in segmentation pipelines by 6.5×</a:t>
            </a:r>
          </a:p>
          <a:p>
            <a:pPr algn="l" marL="744783" indent="-372392" lvl="1">
              <a:lnSpc>
                <a:spcPts val="5519"/>
              </a:lnSpc>
              <a:buFont typeface="Arial"/>
              <a:buChar char="•"/>
            </a:pPr>
            <a:r>
              <a:rPr lang="en-US" b="true" sz="3449">
                <a:solidFill>
                  <a:srgbClr val="2E2E2E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Provide strong semantic understanding through tokens</a:t>
            </a:r>
          </a:p>
          <a:p>
            <a:pPr algn="l">
              <a:lnSpc>
                <a:spcPts val="5519"/>
              </a:lnSpc>
            </a:pPr>
          </a:p>
        </p:txBody>
      </p:sp>
      <p:sp>
        <p:nvSpPr>
          <p:cNvPr name="TextBox 5" id="5"/>
          <p:cNvSpPr txBox="true"/>
          <p:nvPr/>
        </p:nvSpPr>
        <p:spPr>
          <a:xfrm rot="0">
            <a:off x="1028700" y="6217512"/>
            <a:ext cx="16230600" cy="25968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612"/>
              </a:lnSpc>
              <a:spcBef>
                <a:spcPct val="0"/>
              </a:spcBef>
            </a:pPr>
            <a:r>
              <a:rPr lang="en-US" b="true" sz="6612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VTS ARE A NEW COMPUTER VISION PARADIGM REPLACING REDUNDANT PIXEL-CONVOLUTION OPERATIONS.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1219200"/>
            <a:ext cx="11440772" cy="1788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030"/>
              </a:lnSpc>
            </a:pPr>
            <a:r>
              <a:rPr lang="en-US" b="true" sz="13030" spc="-443">
                <a:solidFill>
                  <a:srgbClr val="004AAD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THANKYOU!!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-1766807">
            <a:off x="10460579" y="2341404"/>
            <a:ext cx="12112141" cy="9843868"/>
          </a:xfrm>
          <a:custGeom>
            <a:avLst/>
            <a:gdLst/>
            <a:ahLst/>
            <a:cxnLst/>
            <a:rect r="r" b="b" t="t" l="l"/>
            <a:pathLst>
              <a:path h="9843868" w="12112141">
                <a:moveTo>
                  <a:pt x="0" y="0"/>
                </a:moveTo>
                <a:lnTo>
                  <a:pt x="12112141" y="0"/>
                </a:lnTo>
                <a:lnTo>
                  <a:pt x="12112141" y="9843868"/>
                </a:lnTo>
                <a:lnTo>
                  <a:pt x="0" y="984386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DAG5siw1-rI</dc:identifier>
  <dcterms:modified xsi:type="dcterms:W3CDTF">2011-08-01T06:04:30Z</dcterms:modified>
  <cp:revision>1</cp:revision>
  <dc:title>Soft_Computing</dc:title>
</cp:coreProperties>
</file>